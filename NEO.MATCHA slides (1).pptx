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Lora SemiBold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SemiBold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LoraSemiBold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Montserrat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oraSemiBold-bold.fntdata"/><Relationship Id="rId18" Type="http://schemas.openxmlformats.org/officeDocument/2006/relationships/font" Target="fonts/Lora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467d5522d_2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2467d5522d_2_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2467d5522d_2_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4d445e5a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4d445e5a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4d445e5a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24d445e5a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4d445e5a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24d445e5a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248ff5132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248ff5132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467d5522d_2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2467d5522d_2_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2467d5522d_2_1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48ff5132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248ff5132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4d445e5a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24d445e5a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2467d5522d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2467d5522d_2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2467d5522d_2_1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2467d5522d_2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2467d5522d_2_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2467d5522d_2_1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>
  <p:cSld name="Titre uniquem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686943" y="582930"/>
            <a:ext cx="7770114" cy="3977640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type="ctrTitle"/>
          </p:nvPr>
        </p:nvSpPr>
        <p:spPr>
          <a:xfrm>
            <a:off x="1143000" y="1714500"/>
            <a:ext cx="6858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 2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 b="7802" l="0" r="0" t="7802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type="title"/>
          </p:nvPr>
        </p:nvSpPr>
        <p:spPr>
          <a:xfrm>
            <a:off x="1029778" y="1093399"/>
            <a:ext cx="2400300" cy="34354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597215" y="1093398"/>
            <a:ext cx="3739551" cy="34354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23850" lvl="1" marL="91440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image">
  <p:cSld name="Titre + imag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/>
          <p:nvPr>
            <p:ph type="ctrTitle"/>
          </p:nvPr>
        </p:nvSpPr>
        <p:spPr>
          <a:xfrm>
            <a:off x="688694" y="598990"/>
            <a:ext cx="3874625" cy="3967223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34275" lIns="205725" spcFirstLastPara="1" rIns="20572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/>
          <p:nvPr>
            <p:ph idx="2" type="pic"/>
          </p:nvPr>
        </p:nvSpPr>
        <p:spPr>
          <a:xfrm>
            <a:off x="4563318" y="590308"/>
            <a:ext cx="3874625" cy="3967223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 1">
  <p:cSld name="Deux contenus 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7"/>
          <p:cNvSpPr/>
          <p:nvPr/>
        </p:nvSpPr>
        <p:spPr>
          <a:xfrm>
            <a:off x="686943" y="582930"/>
            <a:ext cx="7770114" cy="3977640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952018" y="668438"/>
            <a:ext cx="7239965" cy="8686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1050405" y="1692796"/>
            <a:ext cx="3047033" cy="26563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941233" y="1692796"/>
            <a:ext cx="3152363" cy="26563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 3">
  <p:cSld name="Contenu 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/>
          <p:nvPr/>
        </p:nvSpPr>
        <p:spPr>
          <a:xfrm>
            <a:off x="2849526" y="0"/>
            <a:ext cx="3444949" cy="5143500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 txBox="1"/>
          <p:nvPr>
            <p:ph type="title"/>
          </p:nvPr>
        </p:nvSpPr>
        <p:spPr>
          <a:xfrm>
            <a:off x="3107531" y="69448"/>
            <a:ext cx="2928938" cy="22744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07531" y="3003241"/>
            <a:ext cx="2928938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 1">
  <p:cSld name="Contenu 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/>
          <p:nvPr/>
        </p:nvSpPr>
        <p:spPr>
          <a:xfrm>
            <a:off x="686943" y="582930"/>
            <a:ext cx="7770114" cy="3977640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1212449" y="746569"/>
            <a:ext cx="6719104" cy="8079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1212449" y="1692796"/>
            <a:ext cx="6719103" cy="26563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+ image ">
  <p:cSld name="Contenu + image 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0"/>
          <p:cNvSpPr txBox="1"/>
          <p:nvPr/>
        </p:nvSpPr>
        <p:spPr>
          <a:xfrm>
            <a:off x="686943" y="582930"/>
            <a:ext cx="4586623" cy="3977640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0"/>
          <p:cNvSpPr txBox="1"/>
          <p:nvPr>
            <p:ph type="title"/>
          </p:nvPr>
        </p:nvSpPr>
        <p:spPr>
          <a:xfrm>
            <a:off x="1062703" y="659756"/>
            <a:ext cx="4033055" cy="191250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1063229" y="2682675"/>
            <a:ext cx="3094976" cy="16752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 2">
  <p:cSld name="Deux contenus 2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/>
          <p:nvPr/>
        </p:nvSpPr>
        <p:spPr>
          <a:xfrm>
            <a:off x="685800" y="582930"/>
            <a:ext cx="7771257" cy="3977640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1"/>
          <p:cNvSpPr txBox="1"/>
          <p:nvPr>
            <p:ph type="title"/>
          </p:nvPr>
        </p:nvSpPr>
        <p:spPr>
          <a:xfrm>
            <a:off x="819271" y="582930"/>
            <a:ext cx="7505458" cy="96288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1085272" y="1695985"/>
            <a:ext cx="2456810" cy="274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2" name="Google Shape;112;p21"/>
          <p:cNvSpPr txBox="1"/>
          <p:nvPr>
            <p:ph idx="2" type="body"/>
          </p:nvPr>
        </p:nvSpPr>
        <p:spPr>
          <a:xfrm>
            <a:off x="3863051" y="1695985"/>
            <a:ext cx="4195677" cy="274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sous-titre">
  <p:cSld name="Titre + sous-titr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/>
          <p:nvPr/>
        </p:nvSpPr>
        <p:spPr>
          <a:xfrm>
            <a:off x="686943" y="582930"/>
            <a:ext cx="7770114" cy="3977640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2"/>
          <p:cNvSpPr txBox="1"/>
          <p:nvPr>
            <p:ph type="ctrTitle"/>
          </p:nvPr>
        </p:nvSpPr>
        <p:spPr>
          <a:xfrm>
            <a:off x="4545956" y="850740"/>
            <a:ext cx="3602621" cy="146709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" type="subTitle"/>
          </p:nvPr>
        </p:nvSpPr>
        <p:spPr>
          <a:xfrm>
            <a:off x="4545956" y="2563703"/>
            <a:ext cx="3602621" cy="17290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8" name="Google Shape;118;p22"/>
          <p:cNvSpPr/>
          <p:nvPr>
            <p:ph idx="2" type="pic"/>
          </p:nvPr>
        </p:nvSpPr>
        <p:spPr>
          <a:xfrm>
            <a:off x="981422" y="859979"/>
            <a:ext cx="329184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 3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/>
          <p:nvPr/>
        </p:nvSpPr>
        <p:spPr>
          <a:xfrm>
            <a:off x="685800" y="582930"/>
            <a:ext cx="7771257" cy="3977640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3"/>
          <p:cNvSpPr txBox="1"/>
          <p:nvPr>
            <p:ph type="title"/>
          </p:nvPr>
        </p:nvSpPr>
        <p:spPr>
          <a:xfrm>
            <a:off x="804803" y="685800"/>
            <a:ext cx="7534396" cy="86001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1067765" y="1716461"/>
            <a:ext cx="4036671" cy="26066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2" type="body"/>
          </p:nvPr>
        </p:nvSpPr>
        <p:spPr>
          <a:xfrm>
            <a:off x="5588842" y="1716461"/>
            <a:ext cx="2331720" cy="26066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685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au">
  <p:cSld name="Tableau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/>
          <p:cNvPicPr preferRelativeResize="0"/>
          <p:nvPr/>
        </p:nvPicPr>
        <p:blipFill rotWithShape="1">
          <a:blip r:embed="rId2">
            <a:alphaModFix amt="44000"/>
          </a:blip>
          <a:srcRect b="0" l="0" r="0" t="0"/>
          <a:stretch/>
        </p:blipFill>
        <p:spPr>
          <a:xfrm rot="10800000">
            <a:off x="0" y="0"/>
            <a:ext cx="9141619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133" name="Google Shape;133;p24"/>
          <p:cNvSpPr txBox="1"/>
          <p:nvPr>
            <p:ph type="title"/>
          </p:nvPr>
        </p:nvSpPr>
        <p:spPr>
          <a:xfrm>
            <a:off x="628650" y="100222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sous-titre + image">
  <p:cSld name="Titre + sous-titre + imag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/>
          <p:nvPr/>
        </p:nvSpPr>
        <p:spPr>
          <a:xfrm>
            <a:off x="686943" y="582930"/>
            <a:ext cx="7770114" cy="3977640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 txBox="1"/>
          <p:nvPr>
            <p:ph type="ctrTitle"/>
          </p:nvPr>
        </p:nvSpPr>
        <p:spPr>
          <a:xfrm>
            <a:off x="4722101" y="843665"/>
            <a:ext cx="3360420" cy="176426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22101" y="2678398"/>
            <a:ext cx="3357725" cy="15926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2" name="Google Shape;142;p25"/>
          <p:cNvSpPr/>
          <p:nvPr>
            <p:ph idx="2" type="pic"/>
          </p:nvPr>
        </p:nvSpPr>
        <p:spPr>
          <a:xfrm>
            <a:off x="997159" y="861028"/>
            <a:ext cx="3273899" cy="341003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+ Tableau">
  <p:cSld name="Contenu + Tableau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/>
          <p:cNvPicPr preferRelativeResize="0"/>
          <p:nvPr/>
        </p:nvPicPr>
        <p:blipFill rotWithShape="1">
          <a:blip r:embed="rId2">
            <a:alphaModFix amt="44000"/>
          </a:blip>
          <a:srcRect b="0" l="0" r="0" t="0"/>
          <a:stretch/>
        </p:blipFill>
        <p:spPr>
          <a:xfrm rot="10800000">
            <a:off x="0" y="0"/>
            <a:ext cx="9141619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148" name="Google Shape;148;p26"/>
          <p:cNvSpPr txBox="1"/>
          <p:nvPr>
            <p:ph type="title"/>
          </p:nvPr>
        </p:nvSpPr>
        <p:spPr>
          <a:xfrm>
            <a:off x="628650" y="199664"/>
            <a:ext cx="7791932" cy="106835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628650" y="1334494"/>
            <a:ext cx="2618049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2057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rello.com/b/ze8fWINO/conception-sit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3E8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156050" y="208175"/>
            <a:ext cx="4045200" cy="1178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8761D"/>
                </a:solidFill>
                <a:latin typeface="Lora SemiBold"/>
                <a:ea typeface="Lora SemiBold"/>
                <a:cs typeface="Lora SemiBold"/>
                <a:sym typeface="Lora SemiBold"/>
              </a:rPr>
              <a:t>NEO.MATCHA</a:t>
            </a:r>
            <a:endParaRPr>
              <a:solidFill>
                <a:srgbClr val="38761D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58" name="Google Shape;158;p27"/>
          <p:cNvSpPr txBox="1"/>
          <p:nvPr>
            <p:ph idx="1" type="subTitle"/>
          </p:nvPr>
        </p:nvSpPr>
        <p:spPr>
          <a:xfrm>
            <a:off x="-36800" y="2009925"/>
            <a:ext cx="4211100" cy="3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>
                <a:solidFill>
                  <a:srgbClr val="E0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Votre plateforme idéale pour des produits de qualité</a:t>
            </a:r>
            <a:endParaRPr b="1" i="1">
              <a:solidFill>
                <a:srgbClr val="E066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E0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E0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>
                <a:solidFill>
                  <a:srgbClr val="3C78D8"/>
                </a:solidFill>
              </a:rPr>
              <a:t>Présenté par : </a:t>
            </a:r>
            <a:endParaRPr b="1" i="1">
              <a:solidFill>
                <a:srgbClr val="3C78D8"/>
              </a:solidFill>
            </a:endParaRPr>
          </a:p>
          <a:p>
            <a:pPr indent="45720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200">
                <a:solidFill>
                  <a:srgbClr val="3C78D8"/>
                </a:solidFill>
              </a:rPr>
              <a:t>Alex Bachir</a:t>
            </a:r>
            <a:endParaRPr b="1" i="1" sz="2200">
              <a:solidFill>
                <a:srgbClr val="3C78D8"/>
              </a:solidFill>
            </a:endParaRPr>
          </a:p>
          <a:p>
            <a:pPr indent="45720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200">
                <a:solidFill>
                  <a:srgbClr val="3C78D8"/>
                </a:solidFill>
              </a:rPr>
              <a:t>Meriam Gadoudi</a:t>
            </a:r>
            <a:endParaRPr b="1" i="1" sz="2200">
              <a:solidFill>
                <a:srgbClr val="3C78D8"/>
              </a:solidFill>
            </a:endParaRPr>
          </a:p>
          <a:p>
            <a:pPr indent="45720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200">
                <a:solidFill>
                  <a:srgbClr val="3C78D8"/>
                </a:solidFill>
              </a:rPr>
              <a:t>Charfi Ines</a:t>
            </a:r>
            <a:endParaRPr b="1" i="1" sz="2200">
              <a:solidFill>
                <a:srgbClr val="3C78D8"/>
              </a:solidFill>
            </a:endParaRPr>
          </a:p>
        </p:txBody>
      </p:sp>
      <p:sp>
        <p:nvSpPr>
          <p:cNvPr id="159" name="Google Shape;159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150" y="29038"/>
            <a:ext cx="2460844" cy="207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0850" y="0"/>
            <a:ext cx="2747275" cy="26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6300" y="2099175"/>
            <a:ext cx="2367700" cy="207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80850" y="2689525"/>
            <a:ext cx="2695450" cy="245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9725" y="4169300"/>
            <a:ext cx="2460852" cy="100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/>
        </p:nvSpPr>
        <p:spPr>
          <a:xfrm>
            <a:off x="693100" y="776475"/>
            <a:ext cx="77700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2900">
                <a:solidFill>
                  <a:srgbClr val="EA9999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Sommaire :</a:t>
            </a:r>
            <a:endParaRPr i="1" sz="2900">
              <a:solidFill>
                <a:srgbClr val="EA99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900">
              <a:solidFill>
                <a:schemeClr val="accent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Comic Sans MS"/>
              <a:buAutoNum type="arabicPeriod"/>
            </a:pPr>
            <a:r>
              <a:rPr i="1" lang="fr" sz="25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Explication de projet :</a:t>
            </a:r>
            <a:endParaRPr i="1" sz="25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Comic Sans MS"/>
              <a:buChar char="●"/>
            </a:pPr>
            <a:r>
              <a:rPr i="1" lang="fr" sz="25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outils utilisés</a:t>
            </a:r>
            <a:endParaRPr i="1" sz="25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Comic Sans MS"/>
              <a:buChar char="●"/>
            </a:pPr>
            <a:r>
              <a:rPr i="1" lang="fr" sz="25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conception, développement et déploiement  du site NEO.MATCHA</a:t>
            </a:r>
            <a:endParaRPr i="1" sz="25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Comic Sans MS"/>
              <a:buAutoNum type="arabicPeriod"/>
            </a:pPr>
            <a:r>
              <a:rPr i="1" lang="fr" sz="25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GIT &amp; GITHUB</a:t>
            </a:r>
            <a:endParaRPr i="1" sz="25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Comic Sans MS"/>
              <a:buAutoNum type="arabicPeriod"/>
            </a:pPr>
            <a:r>
              <a:rPr i="1" lang="fr" sz="25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Démonstration</a:t>
            </a:r>
            <a:endParaRPr i="1" sz="25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777825" y="618975"/>
            <a:ext cx="4486200" cy="3943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35020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ct val="88248"/>
              <a:buFont typeface="Comic Sans MS"/>
              <a:buAutoNum type="arabicPeriod"/>
            </a:pPr>
            <a:r>
              <a:rPr lang="fr" sz="2552">
                <a:solidFill>
                  <a:srgbClr val="E0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Explication du projet :</a:t>
            </a:r>
            <a:endParaRPr sz="2200">
              <a:solidFill>
                <a:srgbClr val="E066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8445"/>
              <a:buFont typeface="Arial"/>
              <a:buNone/>
            </a:pPr>
            <a:r>
              <a:rPr lang="fr" sz="2270">
                <a:solidFill>
                  <a:srgbClr val="274E13"/>
                </a:solidFill>
                <a:latin typeface="Comic Sans MS"/>
                <a:ea typeface="Comic Sans MS"/>
                <a:cs typeface="Comic Sans MS"/>
                <a:sym typeface="Comic Sans MS"/>
              </a:rPr>
              <a:t>NEO.MATCHA permet de vendre ses produits à un large public en ligne, offrant une plateforme facile à naviguer.</a:t>
            </a:r>
            <a:endParaRPr sz="2270">
              <a:solidFill>
                <a:srgbClr val="274E1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sz="1800">
              <a:solidFill>
                <a:srgbClr val="274E1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576"/>
              <a:buFont typeface="Arial"/>
              <a:buNone/>
            </a:pPr>
            <a:r>
              <a:rPr lang="fr" sz="2524">
                <a:solidFill>
                  <a:srgbClr val="E0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2.outils utilisés :</a:t>
            </a:r>
            <a:endParaRPr sz="2524">
              <a:solidFill>
                <a:srgbClr val="E066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734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ct val="100000"/>
              <a:buFont typeface="Comic Sans MS"/>
              <a:buChar char="❖"/>
            </a:pPr>
            <a:r>
              <a:rPr lang="fr" sz="22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Gestion de projet </a:t>
            </a:r>
            <a:r>
              <a:rPr lang="fr" sz="2200">
                <a:solidFill>
                  <a:srgbClr val="E0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: </a:t>
            </a:r>
            <a:r>
              <a:rPr lang="fr" sz="2200" u="sng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  <a:hlinkClick r:id="rId3"/>
              </a:rPr>
              <a:t>Trello </a:t>
            </a:r>
            <a:endParaRPr sz="2200">
              <a:solidFill>
                <a:srgbClr val="E066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734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ct val="100000"/>
              <a:buFont typeface="Comic Sans MS"/>
              <a:buChar char="❖"/>
            </a:pPr>
            <a:r>
              <a:rPr lang="fr" sz="22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Développement : </a:t>
            </a:r>
            <a:r>
              <a:rPr lang="fr" sz="2200">
                <a:solidFill>
                  <a:srgbClr val="E0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HTML + CSS</a:t>
            </a:r>
            <a:endParaRPr sz="2200">
              <a:solidFill>
                <a:srgbClr val="E066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734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ct val="100000"/>
              <a:buFont typeface="Comic Sans MS"/>
              <a:buChar char="❖"/>
            </a:pPr>
            <a:r>
              <a:rPr lang="fr" sz="22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Modélisation : </a:t>
            </a:r>
            <a:r>
              <a:rPr lang="fr" sz="2200">
                <a:solidFill>
                  <a:srgbClr val="674EA7"/>
                </a:solidFill>
                <a:latin typeface="Comic Sans MS"/>
                <a:ea typeface="Comic Sans MS"/>
                <a:cs typeface="Comic Sans MS"/>
                <a:sym typeface="Comic Sans MS"/>
              </a:rPr>
              <a:t>figma +Canva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0" y="0"/>
            <a:ext cx="8846400" cy="43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2200">
                <a:solidFill>
                  <a:srgbClr val="E0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i="1" lang="fr" sz="2200">
                <a:solidFill>
                  <a:srgbClr val="E0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onception, développement et déploiement  du site NEO.MATCHA</a:t>
            </a:r>
            <a:endParaRPr sz="2400">
              <a:solidFill>
                <a:srgbClr val="E06666"/>
              </a:solidFill>
            </a:endParaRPr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810700" y="1537250"/>
            <a:ext cx="3516600" cy="30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 txBox="1"/>
          <p:nvPr>
            <p:ph idx="2" type="body"/>
          </p:nvPr>
        </p:nvSpPr>
        <p:spPr>
          <a:xfrm>
            <a:off x="5952350" y="1192300"/>
            <a:ext cx="3863700" cy="30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6100"/>
            <a:ext cx="9144002" cy="45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>
            <a:off x="7287000" y="596150"/>
            <a:ext cx="1857000" cy="43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rgbClr val="073763"/>
                </a:solidFill>
              </a:rPr>
              <a:t>Page vente</a:t>
            </a:r>
            <a:endParaRPr sz="24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74265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6976" y="0"/>
            <a:ext cx="2867025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6975" y="3199450"/>
            <a:ext cx="2867025" cy="1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775" y="2782850"/>
            <a:ext cx="4077476" cy="22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2824" y="2758950"/>
            <a:ext cx="263272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38" y="0"/>
            <a:ext cx="8196725" cy="12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1750" y="1261225"/>
            <a:ext cx="4200525" cy="12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14407" y="2758946"/>
            <a:ext cx="2058418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mbre de l’équipe&#10;" id="206" name="Google Shape;206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6" r="75" t="0"/>
          <a:stretch/>
        </p:blipFill>
        <p:spPr>
          <a:xfrm flipH="1">
            <a:off x="11379749" y="1010264"/>
            <a:ext cx="4654699" cy="904261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</p:pic>
      <p:pic>
        <p:nvPicPr>
          <p:cNvPr id="207" name="Google Shape;20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500" y="907900"/>
            <a:ext cx="3244950" cy="29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9506" y="1717325"/>
            <a:ext cx="3368769" cy="310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4950" y="105425"/>
            <a:ext cx="467056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93504" y="471675"/>
            <a:ext cx="2165106" cy="90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115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125" y="1831489"/>
            <a:ext cx="28003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476" y="1598750"/>
            <a:ext cx="3024574" cy="28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5125" y="3099075"/>
            <a:ext cx="280035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ctrTitle"/>
          </p:nvPr>
        </p:nvSpPr>
        <p:spPr>
          <a:xfrm>
            <a:off x="688694" y="598990"/>
            <a:ext cx="3874500" cy="3967200"/>
          </a:xfrm>
          <a:prstGeom prst="rect">
            <a:avLst/>
          </a:prstGeom>
        </p:spPr>
        <p:txBody>
          <a:bodyPr anchorCtr="0" anchor="ctr" bIns="34275" lIns="205725" spcFirstLastPara="1" rIns="20572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066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GIT &amp; GITHUB</a:t>
            </a:r>
            <a:endParaRPr>
              <a:solidFill>
                <a:srgbClr val="E0666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4" name="Google Shape;224;p35"/>
          <p:cNvSpPr/>
          <p:nvPr>
            <p:ph idx="2" type="pic"/>
          </p:nvPr>
        </p:nvSpPr>
        <p:spPr>
          <a:xfrm>
            <a:off x="4563318" y="590308"/>
            <a:ext cx="3874500" cy="3967200"/>
          </a:xfrm>
          <a:prstGeom prst="rect">
            <a:avLst/>
          </a:prstGeom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 flipH="1">
            <a:off x="-6090987" y="-1218197"/>
            <a:ext cx="1497932" cy="27251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6"/>
          <p:cNvSpPr txBox="1"/>
          <p:nvPr>
            <p:ph idx="2" type="body"/>
          </p:nvPr>
        </p:nvSpPr>
        <p:spPr>
          <a:xfrm>
            <a:off x="692726" y="561109"/>
            <a:ext cx="7786256" cy="40247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429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2914100" y="783300"/>
            <a:ext cx="33030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i="0" lang="fr" sz="3400" u="none" cap="none" strike="noStrike">
                <a:solidFill>
                  <a:srgbClr val="E066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</a:t>
            </a:r>
            <a:r>
              <a:rPr lang="fr" sz="3400">
                <a:solidFill>
                  <a:srgbClr val="E066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erci pour votre écoute</a:t>
            </a:r>
            <a:endParaRPr sz="3400">
              <a:solidFill>
                <a:srgbClr val="E0666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fr" sz="3400">
                <a:solidFill>
                  <a:srgbClr val="E066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&amp; </a:t>
            </a:r>
            <a:endParaRPr sz="3400">
              <a:solidFill>
                <a:srgbClr val="E0666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fr" sz="3400">
                <a:solidFill>
                  <a:srgbClr val="E066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votre collaboration</a:t>
            </a:r>
            <a:r>
              <a:rPr lang="fr" sz="3400">
                <a:solidFill>
                  <a:srgbClr val="E066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3400">
              <a:solidFill>
                <a:srgbClr val="E0666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ersonnalisé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